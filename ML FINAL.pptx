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Int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regular.fntdata"/><Relationship Id="rId21" Type="http://schemas.openxmlformats.org/officeDocument/2006/relationships/slide" Target="slides/slide16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b3fd980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b3fd980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b3fd980d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b3fd980d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b3fd980d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b3fd980d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b3fd980d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b3fd980d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b3fd980d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b3fd980d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b3fd980d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b3fd980d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b3fd980d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b3fd980d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b3fd980d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b3fd980d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b3fd980d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b3fd980d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b3fd980d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b3fd980d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b3fd980d1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b3fd980d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b3fd980d1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b3fd980d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b3fd980d1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b3fd980d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b3fd980d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b3fd980d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b3fd980d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b3fd980d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Modeling Gun Violence Using the CDC’s Social Vulnerability Index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Adam Sam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Introduction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50475" y="1017725"/>
            <a:ext cx="398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This project aims to train a model predicting U.S gun homicide rates using demographic factors represented by the CDC’s Social Vulnerability Index (SVI) dataset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Applying machine learning techniques can offer an unbiased </a:t>
            </a:r>
            <a:r>
              <a:rPr lang="en" sz="1700"/>
              <a:t>understanding of</a:t>
            </a:r>
            <a:r>
              <a:rPr lang="en" sz="1700"/>
              <a:t> gun violence and  help </a:t>
            </a:r>
            <a:r>
              <a:rPr lang="en" sz="1700"/>
              <a:t>provide meaningful solutions </a:t>
            </a:r>
            <a:endParaRPr sz="17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051" y="2472775"/>
            <a:ext cx="3989499" cy="2244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6050" y="225600"/>
            <a:ext cx="3989499" cy="2247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</a:rPr>
              <a:t>What is SVI?</a:t>
            </a:r>
            <a:endParaRPr b="1" sz="2800">
              <a:solidFill>
                <a:srgbClr val="000000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562550"/>
            <a:ext cx="42603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en" sz="1900">
                <a:solidFill>
                  <a:srgbClr val="595959"/>
                </a:solidFill>
              </a:rPr>
              <a:t>Social Vulnerability Index (SVI) is an index developed by the CDC </a:t>
            </a:r>
            <a:endParaRPr sz="190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595959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1900">
                <a:solidFill>
                  <a:srgbClr val="595959"/>
                </a:solidFill>
              </a:rPr>
              <a:t>It’s intended to quantify a community's vulnerability towards disasters (hurricanes, floods, etc.) </a:t>
            </a:r>
            <a:endParaRPr sz="190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595959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en" sz="1900">
                <a:solidFill>
                  <a:srgbClr val="595959"/>
                </a:solidFill>
              </a:rPr>
              <a:t>Because of its feature-rich dataset encompassing many demographic factors, it has potential outside of its intended use</a:t>
            </a:r>
            <a:endParaRPr sz="190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rgbClr val="595959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400" y="1046425"/>
            <a:ext cx="4219800" cy="2384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464100" y="513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</a:rPr>
              <a:t>Dataset</a:t>
            </a:r>
            <a:endParaRPr b="1" sz="2800">
              <a:solidFill>
                <a:srgbClr val="000000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3150" y="912200"/>
            <a:ext cx="4219800" cy="34354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290350" y="1044025"/>
            <a:ext cx="4552800" cy="39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" sz="1600">
                <a:solidFill>
                  <a:srgbClr val="595959"/>
                </a:solidFill>
              </a:rPr>
              <a:t>SVI dataset consists of four vulnerability scores related to four themes, along with an overall vulnerability score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" sz="1600">
                <a:solidFill>
                  <a:srgbClr val="595959"/>
                </a:solidFill>
              </a:rPr>
              <a:t>Within the four themes are demographic features that determine its vulnerability score </a:t>
            </a:r>
            <a:endParaRPr sz="160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" sz="1600">
                <a:solidFill>
                  <a:srgbClr val="595959"/>
                </a:solidFill>
              </a:rPr>
              <a:t>Gun homicide data also comes from the CDC, measured in 100k deaths per capita</a:t>
            </a:r>
            <a:endParaRPr sz="160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" sz="1600">
                <a:solidFill>
                  <a:srgbClr val="595959"/>
                </a:solidFill>
              </a:rPr>
              <a:t>All data from 2022 </a:t>
            </a:r>
            <a:r>
              <a:rPr lang="en" sz="1600">
                <a:solidFill>
                  <a:srgbClr val="595959"/>
                </a:solidFill>
              </a:rPr>
              <a:t>will be analyzed	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5129000" y="584225"/>
            <a:ext cx="345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Calculated Scores		Features</a:t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</a:rPr>
              <a:t>Dataset Excerpt - Rows represent U.S states</a:t>
            </a:r>
            <a:endParaRPr b="1" sz="2800">
              <a:solidFill>
                <a:srgbClr val="000000"/>
              </a:solidFill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5997" l="0" r="0" t="0"/>
          <a:stretch/>
        </p:blipFill>
        <p:spPr>
          <a:xfrm>
            <a:off x="0" y="2051400"/>
            <a:ext cx="9144000" cy="23412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0" y="2116275"/>
            <a:ext cx="3624900" cy="2341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3624925" y="2116275"/>
            <a:ext cx="3691500" cy="23412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7316425" y="2116275"/>
            <a:ext cx="888900" cy="23412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8205325" y="2116275"/>
            <a:ext cx="906000" cy="23412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611500" y="1632050"/>
            <a:ext cx="2243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Indicating features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989725" y="1658775"/>
            <a:ext cx="29619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00FF"/>
                </a:solidFill>
              </a:rPr>
              <a:t>Thematic vulnerability scores</a:t>
            </a:r>
            <a:endParaRPr b="1" sz="1500">
              <a:solidFill>
                <a:srgbClr val="9900FF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7316425" y="1506750"/>
            <a:ext cx="1098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9900FF"/>
                </a:solidFill>
              </a:rPr>
              <a:t>Overall vulnerability score</a:t>
            </a:r>
            <a:endParaRPr b="1" sz="1100">
              <a:solidFill>
                <a:srgbClr val="9900FF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8237775" y="1658775"/>
            <a:ext cx="11559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FF00"/>
                </a:solidFill>
              </a:rPr>
              <a:t>Target</a:t>
            </a:r>
            <a:endParaRPr b="1" sz="15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Dataset Preprocessing</a:t>
            </a:r>
            <a:endParaRPr b="1"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950225"/>
            <a:ext cx="417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Irrelevant columns were dropped from the dataset (state abbreviations, </a:t>
            </a:r>
            <a:r>
              <a:rPr lang="en" sz="1700"/>
              <a:t>county </a:t>
            </a:r>
            <a:r>
              <a:rPr lang="en" sz="1700"/>
              <a:t>codes etc.)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Raw values of population were dropped, keeping only the percentages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County-level SVI data was grouped by states, and values were aggregated using averaging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Because of </a:t>
            </a:r>
            <a:r>
              <a:rPr lang="en" sz="1700"/>
              <a:t>multicollinearity</a:t>
            </a:r>
            <a:r>
              <a:rPr lang="en" sz="1700"/>
              <a:t>, I removed the vulnerability scores from the data</a:t>
            </a:r>
            <a:endParaRPr sz="1700"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9500" y="1507800"/>
            <a:ext cx="4432199" cy="223943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4489500" y="3466950"/>
            <a:ext cx="4597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Thematic scores are calculated by the indicating features, which introduces </a:t>
            </a:r>
            <a:r>
              <a:rPr lang="en" sz="800">
                <a:solidFill>
                  <a:schemeClr val="dk2"/>
                </a:solidFill>
              </a:rPr>
              <a:t>multicollinearity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Dataset Preprocessing</a:t>
            </a:r>
            <a:endParaRPr b="1"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408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For gun-homicide data, CDC reports values where the total amount of deaths &lt; 20 as “Unreliable”. These values were restored using manual calculation</a:t>
            </a:r>
            <a:endParaRPr sz="1829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9"/>
          </a:p>
          <a:p>
            <a:pPr indent="-3448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The final dataset consists of 51 samples, and 16 features</a:t>
            </a:r>
            <a:endParaRPr sz="1829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829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829"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600" y="1312275"/>
            <a:ext cx="4446600" cy="1226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Establishing a Baseline</a:t>
            </a:r>
            <a:endParaRPr b="1"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403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Chosen models: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Linear Regression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Vector </a:t>
            </a:r>
            <a:r>
              <a:rPr lang="en"/>
              <a:t>Regression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XGBoost Regressor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SVR and XGBoost hyperparameters were optimized using GridSearchCV. For consistency, the same parameter grids established in the baseline are used for the remaining experiments.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7750" y="3434863"/>
            <a:ext cx="4491300" cy="871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7750" y="1322525"/>
            <a:ext cx="3419192" cy="2112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EXPERIMENT: BASELINE</a:t>
            </a:r>
            <a:endParaRPr b="1"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391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XGBoost performed the best, though at a small margin ahead of linear regression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SVR performed the worst, with the highest test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SVR CV chose a polynomial kernel with a degree of five, which may indicate overfitting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600" y="2015375"/>
            <a:ext cx="44577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 rotWithShape="1">
          <a:blip r:embed="rId4">
            <a:alphaModFix/>
          </a:blip>
          <a:srcRect b="0" l="0" r="0" t="24562"/>
          <a:stretch/>
        </p:blipFill>
        <p:spPr>
          <a:xfrm>
            <a:off x="2492473" y="4855475"/>
            <a:ext cx="6651526" cy="20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375" y="4703625"/>
            <a:ext cx="8286627" cy="15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EXPERIMENT: SCALED</a:t>
            </a:r>
            <a:endParaRPr b="1"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391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Features were scaled using MixMaxScaler()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Scaling improved training times significantly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MSEs remained the same, except for SVR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SVR CV chose a linear kernel - this reduced overfitting and led to better test errors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To save time, all other experiments will use scaled data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600" y="337750"/>
            <a:ext cx="44577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3750" y="1556950"/>
            <a:ext cx="4497926" cy="93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8300" y="4817475"/>
            <a:ext cx="7850301" cy="32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2700" y="2644075"/>
            <a:ext cx="4536346" cy="20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EXPERIMENT: </a:t>
            </a:r>
            <a:r>
              <a:rPr b="1" lang="en"/>
              <a:t>POLYNOMIAL </a:t>
            </a:r>
            <a:r>
              <a:rPr b="1" lang="en"/>
              <a:t>FEATURES (DEGREE 2)</a:t>
            </a:r>
            <a:endParaRPr b="1"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311700" y="1152475"/>
            <a:ext cx="413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Polynomial features were generated using SciKit’s PolynomialFeatures() function - increasing the feature count to 152 features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Linear regression </a:t>
            </a:r>
            <a:r>
              <a:rPr lang="en" sz="1500"/>
              <a:t>performed</a:t>
            </a:r>
            <a:r>
              <a:rPr lang="en" sz="1500"/>
              <a:t> much worse than baseline, severely overfitting the data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SVR also performed worse than baseline, but was more resistant to overfitting than linear regression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This indicates SVR’s ability to handle high-dimensional data through its regularization technique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6300" y="1017725"/>
            <a:ext cx="44577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4231" y="4804800"/>
            <a:ext cx="7949771" cy="3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5596" y="2659169"/>
            <a:ext cx="4339125" cy="88816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4714263" y="2320475"/>
            <a:ext cx="252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DEGREE = 2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EXPERIMENT: POLYNOMIAL FEATURES (DEGREE 3)</a:t>
            </a:r>
            <a:endParaRPr b="1"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311700" y="1152475"/>
            <a:ext cx="413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Third degree polynomials worsened XGBoost performance (more overfitting) but slightly improved SVR performance (less overfitting)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also supports the previous finding of how SVR is better suited for high-dimensional data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6300" y="1017725"/>
            <a:ext cx="44577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5596" y="2647319"/>
            <a:ext cx="4339125" cy="888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5588" y="3809134"/>
            <a:ext cx="4339126" cy="94804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/>
        </p:nvSpPr>
        <p:spPr>
          <a:xfrm>
            <a:off x="4714263" y="2308625"/>
            <a:ext cx="252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DEGREE = 2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4714263" y="3535475"/>
            <a:ext cx="252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DEGREE = 3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 rotWithShape="1">
          <a:blip r:embed="rId6">
            <a:alphaModFix/>
          </a:blip>
          <a:srcRect b="0" l="0" r="0" t="19594"/>
          <a:stretch/>
        </p:blipFill>
        <p:spPr>
          <a:xfrm>
            <a:off x="739125" y="4762325"/>
            <a:ext cx="8404875" cy="36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EXPERIMENT: PCA</a:t>
            </a:r>
            <a:endParaRPr b="1"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152475"/>
            <a:ext cx="391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PCA was </a:t>
            </a:r>
            <a:r>
              <a:rPr lang="en" sz="1700"/>
              <a:t>applied</a:t>
            </a:r>
            <a:r>
              <a:rPr lang="en" sz="1700"/>
              <a:t> to reduce features, capturing 90% of variance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Features reduced from 16 to 6 components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MSE improved for XGBoost and Linear Regression, but worsened it for SVR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6825" y="1328013"/>
            <a:ext cx="44577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6875" y="2628813"/>
            <a:ext cx="4407650" cy="912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275" y="4703625"/>
            <a:ext cx="8756825" cy="4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EXPERIMENT: NOISY DATA</a:t>
            </a:r>
            <a:endParaRPr b="1"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311700" y="1152475"/>
            <a:ext cx="391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random continuous and categorical feature was introduced to the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Linear SVR achieved the lowest MSE out of all the experiments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XGBoost started overfitting, as seen by the lowered training error but heighted testing error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6825" y="1328013"/>
            <a:ext cx="44577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938" y="2640776"/>
            <a:ext cx="4405475" cy="829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/>
          <p:cNvPicPr preferRelativeResize="0"/>
          <p:nvPr/>
        </p:nvPicPr>
        <p:blipFill rotWithShape="1">
          <a:blip r:embed="rId5">
            <a:alphaModFix/>
          </a:blip>
          <a:srcRect b="0" l="0" r="0" t="19807"/>
          <a:stretch/>
        </p:blipFill>
        <p:spPr>
          <a:xfrm>
            <a:off x="282700" y="4731550"/>
            <a:ext cx="8578600" cy="38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Recommended Model</a:t>
            </a:r>
            <a:endParaRPr b="1"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311700" y="1017725"/>
            <a:ext cx="440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SVR with a linear kernel on noisy features is the best model for this dataset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Findings </a:t>
            </a:r>
            <a:r>
              <a:rPr lang="en" sz="1600"/>
              <a:t>imply that n</a:t>
            </a:r>
            <a:r>
              <a:rPr lang="en" sz="1600"/>
              <a:t>oisy data may reduce overfitting for linear based models, but increase overfitting in tree-based boosting models like XGBoost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Because of small dataset, overfitting is a main issue - the lowest </a:t>
            </a:r>
            <a:r>
              <a:rPr lang="en" sz="1600"/>
              <a:t>test MSE model also had the highest train MSE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future work, using a larger dataset (county data instead of states) may help with overfitting issues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741" y="-32625"/>
            <a:ext cx="433136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THANK YOU!!!!!!!!!!!!!!!!!!!</a:t>
            </a:r>
            <a:endParaRPr b="1"/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7023" y="1834950"/>
            <a:ext cx="2385349" cy="24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